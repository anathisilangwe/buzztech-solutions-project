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3.png"/><Relationship Id="rId21" Type="http://schemas.openxmlformats.org/officeDocument/2006/relationships/image" Target="../media/image39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16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4.png"/><Relationship Id="rId9" Type="http://schemas.openxmlformats.org/officeDocument/2006/relationships/image" Target="../media/image8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2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16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5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92785"/>
            <a:ext cx="5753100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789" y="0"/>
            <a:ext cx="3933211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29425"/>
            <a:ext cx="12192000" cy="28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1119" y="6577012"/>
            <a:ext cx="95250" cy="1047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939" y="6858000"/>
            <a:ext cx="11441310" cy="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Outfit"/>
              </a:rPr>
              <a:t>SLIDE 1 SPEAKER SCRIPT (APPROX. 60S)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7067550"/>
            <a:ext cx="116205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"Good morning members of the evaluation panel, respected lecturers, and fellow peers. My name is presenting our final-year IT capstone project proposal: </a:t>
            </a:r>
            <a:r>
              <a:rPr sz="900" b="1" i="0" u="none">
                <a:solidFill>
                  <a:srgbClr val="CBD5E1"/>
                </a:solidFill>
                <a:latin typeface="Plus Jakarta Sans"/>
              </a:rPr>
              <a:t>Business Buzz – A Smart Compliance Guidance Platform</a:t>
            </a:r>
            <a:r>
              <a:rPr sz="900" b="0" i="0" u="none">
                <a:solidFill>
                  <a:srgbClr val="CBD5E1"/>
                </a:solidFill>
                <a:latin typeface="Plus Jakarta Sans"/>
              </a:rPr>
              <a:t>.</a:t>
            </a:r>
            <a:r>
              <a:t>
</a:t>
            </a:r>
            <a:r>
              <a:rPr sz="900" b="0" i="0" u="none">
                <a:solidFill>
                  <a:srgbClr val="CBD5E1"/>
                </a:solidFill>
                <a:latin typeface="Plus Jakarta Sans"/>
              </a:rPr>
              <a:t> In South Africa, small businesses and startups are the cornerstone of economic growth and job creation. However, turning a business idea into a legally recognized, fully compliant entity remains an uphill battle. Business Buzz was conceived to solve this exact problem by acting as an intelligent navigation layer that simplifies regulatory requirements. Today, I am excited to share our problem background, user insights, system architecture, and tech stack."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2360414"/>
            <a:ext cx="6040755" cy="1159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sz="4350" b="0" i="0" u="none">
                <a:solidFill>
                  <a:srgbClr val="FFFFFF"/>
                </a:solidFill>
                <a:latin typeface="Outfit ExtraBold"/>
              </a:rPr>
              <a:t>Business</a:t>
            </a:r>
            <a:r>
              <a:t>
</a:t>
            </a:r>
            <a:r>
              <a:rPr sz="4350" b="0" i="0" u="none">
                <a:solidFill>
                  <a:srgbClr val="F59E0B"/>
                </a:solidFill>
                <a:latin typeface="Outfit ExtraBold"/>
              </a:rPr>
              <a:t>Buzz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3634680"/>
            <a:ext cx="5753100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0" i="0" u="none">
                <a:solidFill>
                  <a:srgbClr val="93C5FD"/>
                </a:solidFill>
                <a:latin typeface="Plus Jakarta Sans Medium"/>
              </a:rPr>
              <a:t>A Smart Compliance Guidance Platform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rcRect l="25131" r="3238" b="5139"/>
          <a:stretch>
            <a:fillRect/>
          </a:stretch>
        </p:blipFill>
        <p:spPr>
          <a:xfrm>
            <a:off x="8258789" y="176213"/>
            <a:ext cx="3923071" cy="65055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6872287"/>
            <a:ext cx="102989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407098"/>
            <a:ext cx="123825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5325" y="4392810"/>
            <a:ext cx="2819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Plus Jakarta Sans"/>
              </a:rPr>
              <a:t>Focus: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South African Small Business Compliance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63569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3900" y="4621410"/>
            <a:ext cx="3105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Plus Jakarta Sans"/>
              </a:rPr>
              <a:t>Target Audience: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Evaluators &amp; Academic Supervisors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512" y="414337"/>
            <a:ext cx="1519237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29425"/>
            <a:ext cx="12192000" cy="28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1047750"/>
            <a:ext cx="11715750" cy="387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200" b="1" i="0" u="none" dirty="0">
                <a:solidFill>
                  <a:srgbClr val="0F2C59"/>
                </a:solidFill>
                <a:latin typeface="Outfit"/>
              </a:rPr>
              <a:t>The Challenge of Registration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1470570"/>
            <a:ext cx="112395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64748B"/>
                </a:solidFill>
                <a:latin typeface="Plus Jakarta Sans Medium"/>
              </a:rPr>
              <a:t>South African entrepreneurs struggle with fragmented, multi-agency administrative friction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1119" y="6577012"/>
            <a:ext cx="95250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6353175"/>
            <a:ext cx="13430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IT Capstone Proposal Pitch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810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6300" y="423862"/>
            <a:ext cx="104879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Outfit"/>
              </a:rPr>
              <a:t>Business Buzz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975395"/>
            <a:ext cx="1714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2828776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4048666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3450" y="1928352"/>
            <a:ext cx="4876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Fragmented Government Agencies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2277230"/>
            <a:ext cx="4895850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400" b="0" i="0" u="none" dirty="0">
                <a:solidFill>
                  <a:srgbClr val="475569"/>
                </a:solidFill>
                <a:latin typeface="Plus Jakarta Sans"/>
              </a:rPr>
              <a:t>Entrepreneurs must navigate distinct systems across CIPC, SARS, </a:t>
            </a:r>
            <a:r>
              <a:rPr sz="1400" b="0" i="0" u="none" dirty="0" err="1">
                <a:solidFill>
                  <a:srgbClr val="475569"/>
                </a:solidFill>
                <a:latin typeface="Plus Jakarta Sans"/>
              </a:rPr>
              <a:t>Labour</a:t>
            </a:r>
            <a:r>
              <a:rPr sz="1400" b="0" i="0" u="none" dirty="0">
                <a:solidFill>
                  <a:srgbClr val="475569"/>
                </a:solidFill>
                <a:latin typeface="Plus Jakarta Sans"/>
              </a:rPr>
              <a:t> (COIDA/UIF), and municipal portals independently.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2809726"/>
            <a:ext cx="4895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Lack of Process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" y="3307291"/>
            <a:ext cx="4895850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400" b="0" i="0" u="none" dirty="0">
                <a:solidFill>
                  <a:srgbClr val="475569"/>
                </a:solidFill>
                <a:latin typeface="Plus Jakarta Sans"/>
              </a:rPr>
              <a:t>No unified guidance exists regarding where to begin, which specific rules apply, or the correct sequencing of registrations.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4024922"/>
            <a:ext cx="4895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Physical &amp; Digital Barriers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4494494"/>
            <a:ext cx="4895850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400" b="0" i="0" u="none" dirty="0">
                <a:solidFill>
                  <a:srgbClr val="475569"/>
                </a:solidFill>
                <a:latin typeface="Plus Jakarta Sans"/>
              </a:rPr>
              <a:t>Travel costs, long queues, dispersed physical offices, digital literacy gaps, and unverified online links slow down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6248400"/>
            <a:ext cx="112395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487" y="414337"/>
            <a:ext cx="1338262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98882"/>
            <a:ext cx="2695575" cy="24491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1998883"/>
            <a:ext cx="2695575" cy="24491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98883"/>
            <a:ext cx="2695575" cy="24491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1998883"/>
            <a:ext cx="2695575" cy="24491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6200" y="6829425"/>
            <a:ext cx="12192000" cy="28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1047750"/>
            <a:ext cx="11715750" cy="373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2C59"/>
                </a:solidFill>
                <a:latin typeface="Outfit"/>
              </a:rPr>
              <a:t>Who Experiences the Problem?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1627408"/>
            <a:ext cx="11239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Plus Jakarta Sans Medium"/>
              </a:rPr>
              <a:t>Identifying key stakeholder personas and their primary compliance pain points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6872287"/>
            <a:ext cx="102989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1000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6300" y="423862"/>
            <a:ext cx="104879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Outfit"/>
              </a:rPr>
              <a:t>Business Buzz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2113898"/>
            <a:ext cx="239029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F2C59"/>
                </a:solidFill>
                <a:latin typeface="Outfit"/>
              </a:rPr>
              <a:t>Young Founders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312" y="2609300"/>
            <a:ext cx="2447925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Tech-savvy youth lacking</a:t>
            </a:r>
            <a:endParaRPr lang="en-ZA" sz="1600" dirty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 experience with regulatory jargon &amp; statutory processes.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8550" y="2113898"/>
            <a:ext cx="237029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F2C59"/>
                </a:solidFill>
                <a:latin typeface="Outfit"/>
              </a:rPr>
              <a:t>Startups &amp; SMEs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8050" y="2360833"/>
            <a:ext cx="2447925" cy="1439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Early-stage ventures needing fast compliance to unlock commercial funding &amp; contracts.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2113898"/>
            <a:ext cx="235029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F2C59"/>
                </a:solidFill>
                <a:latin typeface="Outfit"/>
              </a:rPr>
              <a:t>NPOs &amp; NGOs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6025" y="2360833"/>
            <a:ext cx="2447925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Community entities struggling with public benefit &amp; non-profit tax exemptions.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3550" y="2113898"/>
            <a:ext cx="235029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F2C59"/>
                </a:solidFill>
                <a:latin typeface="Outfit"/>
              </a:rPr>
              <a:t>Local Businesses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60833"/>
            <a:ext cx="2447925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Township &amp; rural enterprises isolated from city-based government support desks.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170333"/>
            <a:ext cx="11430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8050" y="2170333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6025" y="2170333"/>
            <a:ext cx="1524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2170333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6248400"/>
            <a:ext cx="112395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14337"/>
            <a:ext cx="16573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39" y="4348974"/>
            <a:ext cx="11335175" cy="11482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44" y="1332588"/>
            <a:ext cx="2695575" cy="280683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225" y="1304010"/>
            <a:ext cx="2695575" cy="27870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811" y="1333716"/>
            <a:ext cx="2724150" cy="275736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175" y="1332587"/>
            <a:ext cx="2695575" cy="275849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829425"/>
            <a:ext cx="12192000" cy="285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7244" y="335789"/>
            <a:ext cx="11715750" cy="346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000" b="1" i="0" u="none" dirty="0">
                <a:solidFill>
                  <a:srgbClr val="0F2C59"/>
                </a:solidFill>
                <a:latin typeface="Outfit"/>
              </a:rPr>
              <a:t>Our Solution: Four Pillar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187" y="817462"/>
            <a:ext cx="112395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64748B"/>
                </a:solidFill>
                <a:latin typeface="Plus Jakarta Sans Medium"/>
              </a:rPr>
              <a:t>A smart guidance layer preparing entrepreneurs before interacting with official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" y="7067550"/>
            <a:ext cx="11620500" cy="188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"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6872287"/>
            <a:ext cx="102989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7837" y="4587100"/>
            <a:ext cx="762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987" y="4587100"/>
            <a:ext cx="762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4912" y="4587100"/>
            <a:ext cx="762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9887" y="4587100"/>
            <a:ext cx="762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2962" y="4587100"/>
            <a:ext cx="7620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1262" y="4587100"/>
            <a:ext cx="76200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47975" y="1946820"/>
            <a:ext cx="2000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E2E8F0"/>
                </a:solidFill>
                <a:latin typeface="Outfit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7850" y="1946820"/>
            <a:ext cx="2381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E2E8F0"/>
                </a:solidFill>
                <a:latin typeface="Outfit ExtraBold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5350" y="1946820"/>
            <a:ext cx="228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E2E8F0"/>
                </a:solidFill>
                <a:latin typeface="Outfit ExtraBold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3800" y="1946820"/>
            <a:ext cx="2381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E2E8F0"/>
                </a:solidFill>
                <a:latin typeface="Outfit ExtraBold"/>
              </a:rPr>
              <a:t>04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49" y="4415650"/>
            <a:ext cx="304800" cy="304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0087" y="4758550"/>
            <a:ext cx="6191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Plus Jakarta Sans"/>
              </a:rPr>
              <a:t>Entrepreneur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4112" y="4415650"/>
            <a:ext cx="304800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252662" y="4758550"/>
            <a:ext cx="79533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Business Buzz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57649" y="4415650"/>
            <a:ext cx="304800" cy="304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33812" y="4758550"/>
            <a:ext cx="95590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Smart Guidance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3099" y="4415650"/>
            <a:ext cx="304800" cy="30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67337" y="4773553"/>
            <a:ext cx="110013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Doc Preparation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7124" y="4415650"/>
            <a:ext cx="304800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151573" y="4867173"/>
            <a:ext cx="95590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Readiness Check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7812" y="4415650"/>
            <a:ext cx="304800" cy="304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67787" y="4758550"/>
            <a:ext cx="7048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Plus Jakarta Sans"/>
              </a:rPr>
              <a:t>Official Portals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58512" y="4415650"/>
            <a:ext cx="304800" cy="304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606087" y="4758550"/>
            <a:ext cx="10096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Plus Jakarta Sans"/>
              </a:rPr>
              <a:t>Compliant Enterprise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7707" y="1504037"/>
            <a:ext cx="304800" cy="304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0600" y="1470846"/>
            <a:ext cx="17335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2C59"/>
                </a:solidFill>
                <a:latin typeface="Outfit"/>
              </a:rPr>
              <a:t>Guided Compliance Journey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900" y="2498108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Personalized assessment questionnaire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712" y="1960029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Dynamic compliance roadmap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425" y="2960697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Explains What, Why, and Responsible Dept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475" y="3482010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Enforces correct step sequencing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54513" y="1417348"/>
            <a:ext cx="304800" cy="3048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889601" y="1398625"/>
            <a:ext cx="18002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2C59"/>
                </a:solidFill>
                <a:latin typeface="Outfit"/>
              </a:rPr>
              <a:t>Digital Document Repository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8962" y="1944171"/>
            <a:ext cx="250759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Centralized secure cloud vault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4249" y="2905031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Stores IDs, Proof of Address &amp; Tax docs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2349" y="3435574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Prevents loss from phone damage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1400" y="2321545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24/7 access across all user devices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376" y="1534116"/>
            <a:ext cx="304800" cy="304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00836" y="1588000"/>
            <a:ext cx="1914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2C59"/>
                </a:solidFill>
                <a:latin typeface="Outfit"/>
              </a:rPr>
              <a:t>Application Readiness Checker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9849" y="2276896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Pre-submission document verification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7475" y="2859826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Flags missing prerequisites instantly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8425" y="3382221"/>
            <a:ext cx="22955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Eliminates incomplete submissions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9215" y="1517859"/>
            <a:ext cx="304800" cy="3048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591675" y="1470846"/>
            <a:ext cx="14668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2C59"/>
                </a:solidFill>
                <a:latin typeface="Outfit"/>
              </a:rPr>
              <a:t>Centralized Gov Access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29725" y="1971309"/>
            <a:ext cx="229552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Verified direct official links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62155" y="2469952"/>
            <a:ext cx="2432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Eliminates phishing &amp; wrong sites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77350" y="3133737"/>
            <a:ext cx="229552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475569"/>
                </a:solidFill>
                <a:latin typeface="Plus Jakarta Sans"/>
              </a:rPr>
              <a:t>Clarification: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Prepares users, does not replace gov systems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7262" y="4506138"/>
            <a:ext cx="104775" cy="12382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38612" y="4506138"/>
            <a:ext cx="142875" cy="123825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34062" y="4506138"/>
            <a:ext cx="142875" cy="123825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7612" y="4506138"/>
            <a:ext cx="123825" cy="123825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58299" y="4506138"/>
            <a:ext cx="123825" cy="123825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8999" y="4506138"/>
            <a:ext cx="123825" cy="12382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61520" y="2412967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687" y="1931001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35" y="2919958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2768" y="3426950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67100" y="2236650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97731" y="1857199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07681" y="2788186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2812" y="3397115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0107" y="2192001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01921" y="2800913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57925" y="3297326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18373" y="2352218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95240" y="1916565"/>
            <a:ext cx="61913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34475" y="3065999"/>
            <a:ext cx="66675" cy="331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F59E0B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6248400"/>
            <a:ext cx="112395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0" y="414337"/>
            <a:ext cx="18478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9" y="1891455"/>
            <a:ext cx="5543550" cy="31091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9425"/>
            <a:ext cx="12192000" cy="28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454" y="268644"/>
            <a:ext cx="11715750" cy="427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400" b="1" i="0" u="none" dirty="0">
                <a:solidFill>
                  <a:srgbClr val="0F2C59"/>
                </a:solidFill>
                <a:latin typeface="Outfit"/>
              </a:rPr>
              <a:t>Technology Architecture &amp;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470570"/>
            <a:ext cx="11239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64748B"/>
                </a:solidFill>
                <a:latin typeface="Plus Jakarta Sans Medium"/>
              </a:rPr>
              <a:t>A scalable, secure, modular full-stack web engineering architecture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6872287"/>
            <a:ext cx="102989" cy="123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7716" y="1955571"/>
            <a:ext cx="50101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>
                <a:solidFill>
                  <a:srgbClr val="0F2C59"/>
                </a:solidFill>
                <a:latin typeface="Outfit"/>
              </a:rPr>
              <a:t>Frontend &amp; UI Presentation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" y="2213520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876300" y="2890213"/>
            <a:ext cx="50482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>
                <a:solidFill>
                  <a:srgbClr val="0F2C59"/>
                </a:solidFill>
                <a:latin typeface="Outfit"/>
              </a:rPr>
              <a:t>Backend Application &amp; Logic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1883" y="3181886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6505575" y="1941671"/>
            <a:ext cx="50673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>
                <a:solidFill>
                  <a:srgbClr val="0F2C59"/>
                </a:solidFill>
                <a:latin typeface="Outfit"/>
              </a:rPr>
              <a:t>Database &amp; Cloud Document 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15075" y="2213520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6529387" y="3322396"/>
            <a:ext cx="50673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>
                <a:solidFill>
                  <a:srgbClr val="0F2C59"/>
                </a:solidFill>
                <a:latin typeface="Outfit"/>
              </a:rPr>
              <a:t>DevOps &amp; Engineering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8887" y="3620392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12" y="2064794"/>
            <a:ext cx="17145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12" y="2334397"/>
            <a:ext cx="1247775" cy="2190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5396" y="2332582"/>
            <a:ext cx="1104900" cy="2190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0783" y="2327707"/>
            <a:ext cx="1238250" cy="2190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0075" y="3510643"/>
            <a:ext cx="1375353" cy="284983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859" y="2939994"/>
            <a:ext cx="13335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022" y="3482824"/>
            <a:ext cx="1438275" cy="254464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7755" y="3482354"/>
            <a:ext cx="1725081" cy="28544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2003970"/>
            <a:ext cx="11430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8887" y="3384695"/>
            <a:ext cx="1143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5720" y="3825567"/>
            <a:ext cx="1314450" cy="2190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9137" y="3836347"/>
            <a:ext cx="1066800" cy="2190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67900" y="3836348"/>
            <a:ext cx="1504950" cy="2190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596" y="2396914"/>
            <a:ext cx="104775" cy="1047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30171" y="2389732"/>
            <a:ext cx="76200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25558" y="2384857"/>
            <a:ext cx="95250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42267" y="3605272"/>
            <a:ext cx="76200" cy="1047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6112" y="3547849"/>
            <a:ext cx="133350" cy="1047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56307" y="3564209"/>
            <a:ext cx="104775" cy="10477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4298" y="3877179"/>
            <a:ext cx="95250" cy="104775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65616" y="3892243"/>
            <a:ext cx="104775" cy="104775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58387" y="3901412"/>
            <a:ext cx="104775" cy="10477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881978AA-4586-8D01-2090-13357DF3CB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0008" y="2358708"/>
            <a:ext cx="1057275" cy="219075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57095A40-E43C-0144-5998-487C0B7AA6F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44783" y="2415858"/>
            <a:ext cx="76200" cy="104775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D1FDC43-6C6A-5A2C-C95A-47BC466276DF}"/>
              </a:ext>
            </a:extLst>
          </p:cNvPr>
          <p:cNvSpPr/>
          <p:nvPr/>
        </p:nvSpPr>
        <p:spPr>
          <a:xfrm>
            <a:off x="6453187" y="2358708"/>
            <a:ext cx="1094100" cy="21907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SQL Server</a:t>
            </a:r>
            <a:endParaRPr lang="en-ZA" sz="1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486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Outfit</vt:lpstr>
      <vt:lpstr>Outfit ExtraBold</vt:lpstr>
      <vt:lpstr>Plus Jakarta Sans</vt:lpstr>
      <vt:lpstr>Plus Jakarta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Silangwe, Anathi, (Miss) (s227565649)</cp:lastModifiedBy>
  <cp:revision>3</cp:revision>
  <dcterms:created xsi:type="dcterms:W3CDTF">2013-01-27T09:14:16Z</dcterms:created>
  <dcterms:modified xsi:type="dcterms:W3CDTF">2026-07-29T08:54:48Z</dcterms:modified>
  <cp:category/>
</cp:coreProperties>
</file>